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71" r:id="rId9"/>
    <p:sldId id="262" r:id="rId10"/>
    <p:sldId id="263" r:id="rId11"/>
    <p:sldId id="272" r:id="rId12"/>
    <p:sldId id="264" r:id="rId13"/>
    <p:sldId id="265" r:id="rId14"/>
    <p:sldId id="266" r:id="rId15"/>
    <p:sldId id="273" r:id="rId16"/>
    <p:sldId id="267" r:id="rId17"/>
    <p:sldId id="274" r:id="rId18"/>
    <p:sldId id="268" r:id="rId19"/>
    <p:sldId id="26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539" autoAdjust="0"/>
  </p:normalViewPr>
  <p:slideViewPr>
    <p:cSldViewPr snapToGrid="0">
      <p:cViewPr varScale="1">
        <p:scale>
          <a:sx n="80" d="100"/>
          <a:sy n="80" d="100"/>
        </p:scale>
        <p:origin x="17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D9546-E8E7-4D4F-AE94-65BB929A672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64DB-4E6C-404D-958D-83178DBCD9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80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My name is </a:t>
            </a:r>
            <a:r>
              <a:rPr kumimoji="1" lang="en-US" altLang="ja-JP" dirty="0" err="1"/>
              <a:t>Aruki</a:t>
            </a:r>
            <a:r>
              <a:rPr kumimoji="1" lang="en-US" altLang="ja-JP" dirty="0"/>
              <a:t> Komatsuzaki from The University of</a:t>
            </a:r>
          </a:p>
          <a:p>
            <a:r>
              <a:rPr kumimoji="1" lang="en-US" altLang="ja-JP" dirty="0"/>
              <a:t>Aizu. Today, I will present our research titled "FPGA-based Neuromorphic Acceleration of</a:t>
            </a:r>
          </a:p>
          <a:p>
            <a:r>
              <a:rPr kumimoji="1" lang="en-US" altLang="ja-JP" dirty="0"/>
              <a:t>Spiking Neural Networks for Event-Driven Humanoid Robotics."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0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2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Generative Adversarial Networks, or GANs, achieve strong performance in content</a:t>
            </a:r>
          </a:p>
          <a:p>
            <a:r>
              <a:rPr kumimoji="1" lang="en-US" altLang="ja-JP" dirty="0"/>
              <a:t>generation. However, their high computational cost significantly limits deployment on</a:t>
            </a:r>
          </a:p>
          <a:p>
            <a:r>
              <a:rPr kumimoji="1" lang="en-US" altLang="ja-JP" dirty="0"/>
              <a:t>resource-constrained devices, such as embedded humanoid robotic systems. These systems</a:t>
            </a:r>
          </a:p>
          <a:p>
            <a:r>
              <a:rPr kumimoji="1" lang="en-US" altLang="ja-JP" dirty="0"/>
              <a:t>require real-time, low-latency processing within strict power budgets, making traditional</a:t>
            </a:r>
          </a:p>
          <a:p>
            <a:r>
              <a:rPr kumimoji="1" lang="en-US" altLang="ja-JP" dirty="0"/>
              <a:t>Artificial Neural Networks challenging to implement efficiently.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8291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To address these challenges, neuromorphic computing offers a highly promising alternative.</a:t>
            </a:r>
          </a:p>
          <a:p>
            <a:r>
              <a:rPr kumimoji="1" lang="en-US" altLang="ja-JP" dirty="0"/>
              <a:t>Spiking Neural Networks provide simpler computation by using action potentials, or spikes.</a:t>
            </a:r>
          </a:p>
          <a:p>
            <a:r>
              <a:rPr kumimoji="1" lang="en-US" altLang="ja-JP" dirty="0"/>
              <a:t>By leveraging event-driven and multiplication-free computation, they reduce computational</a:t>
            </a:r>
          </a:p>
          <a:p>
            <a:r>
              <a:rPr kumimoji="1" lang="en-US" altLang="ja-JP" dirty="0"/>
              <a:t>costs. Deploying these on FPGAs requires a dedicated architecture that exploits spike</a:t>
            </a:r>
          </a:p>
          <a:p>
            <a:r>
              <a:rPr kumimoji="1" lang="en-US" altLang="ja-JP" dirty="0"/>
              <a:t>sparsity and memory efficiency.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89832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8A6C-5EF0-AFFF-A60A-C483EBB1E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7E0FF2-0880-9D57-E604-FFE5714D4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D87021-1ABD-59CA-F326-51A63CC16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49295D-D6AB-93AF-824D-A0BA05EA6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731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Our hardware-software co-design framework begins in the software domain. We train an</a:t>
            </a:r>
          </a:p>
          <a:p>
            <a:r>
              <a:rPr kumimoji="1" lang="en-US" altLang="ja-JP" dirty="0"/>
              <a:t>ANN-based GAN and convert it into its SNN counterpart. The discrete empirical objective</a:t>
            </a:r>
          </a:p>
          <a:p>
            <a:r>
              <a:rPr kumimoji="1" lang="en-US" altLang="ja-JP" dirty="0"/>
              <a:t>function of the GAN for a mini-batch of size m is defined as a minimax game between the</a:t>
            </a:r>
          </a:p>
          <a:p>
            <a:r>
              <a:rPr kumimoji="1" lang="en-US" altLang="ja-JP" dirty="0"/>
              <a:t>discriminator and the generator, as shown in Equation 1. The conversion is accomplished by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mapping the </a:t>
            </a:r>
            <a:r>
              <a:rPr kumimoji="1" lang="en-US" altLang="ja-JP" dirty="0" err="1"/>
              <a:t>ReLU</a:t>
            </a:r>
            <a:r>
              <a:rPr kumimoji="1" lang="en-US" altLang="ja-JP" dirty="0"/>
              <a:t> activation functions of the ANN to the firing rates of Leaky Integrate-</a:t>
            </a:r>
          </a:p>
          <a:p>
            <a:r>
              <a:rPr kumimoji="1" lang="en-US" altLang="ja-JP" dirty="0"/>
              <a:t>and-Fire neurons. Finally, exact synaptic weights, neuron biases, and input spike trains are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extracted for hardware mapping.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4256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In the hardware domain, the fundamental computational unit is the computing core, which</a:t>
            </a:r>
          </a:p>
          <a:p>
            <a:r>
              <a:rPr kumimoji="1" lang="en-US" altLang="ja-JP" dirty="0"/>
              <a:t>integrates a synapse crossbar and an LIF neuron array. Using </a:t>
            </a:r>
            <a:r>
              <a:rPr kumimoji="1" lang="en-US" altLang="ja-JP" dirty="0" err="1"/>
              <a:t>OpenRAM</a:t>
            </a:r>
            <a:r>
              <a:rPr kumimoji="1" lang="en-US" altLang="ja-JP" dirty="0"/>
              <a:t>-based SRAM</a:t>
            </a:r>
          </a:p>
          <a:p>
            <a:r>
              <a:rPr kumimoji="1" lang="en-US" altLang="ja-JP" dirty="0"/>
              <a:t>macros, the hardware operates in a timestep-driven manner. Because neuron states are</a:t>
            </a:r>
          </a:p>
          <a:p>
            <a:r>
              <a:rPr kumimoji="1" lang="en-US" altLang="ja-JP" dirty="0"/>
              <a:t>updated only upon the arrival of a spike, the architecture effectively exploits spike sparsity to</a:t>
            </a:r>
          </a:p>
          <a:p>
            <a:r>
              <a:rPr kumimoji="1" lang="en-US" altLang="ja-JP" dirty="0"/>
              <a:t>minimize unnecessary memory accesses and computational overhead.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47492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B59D-DE61-D536-6F78-44842C15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0065465-ADD4-9215-DB16-D9CC1B161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737D90-57CF-5BEE-DD80-C92238E7A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0B9C68-3BFF-0C35-588E-E721A50CC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641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To evaluate the designed SNN-based GAN generator architecture, the software and hardware</a:t>
            </a:r>
          </a:p>
          <a:p>
            <a:r>
              <a:rPr kumimoji="1" lang="en-US" altLang="ja-JP" dirty="0"/>
              <a:t>environments were configured with specific parameters. As shown here, Table 1 details the</a:t>
            </a:r>
          </a:p>
          <a:p>
            <a:r>
              <a:rPr kumimoji="1" lang="en-US" altLang="ja-JP" dirty="0"/>
              <a:t>datasets, network topology, and data formats used during both the software training and</a:t>
            </a:r>
          </a:p>
          <a:p>
            <a:r>
              <a:rPr kumimoji="1" lang="en-US" altLang="ja-JP" dirty="0"/>
              <a:t>hardware execution phases.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23000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For hardware-level evaluation, the system was synthesized and deployed on the AMD</a:t>
            </a:r>
          </a:p>
          <a:p>
            <a:r>
              <a:rPr kumimoji="1" lang="en-US" altLang="ja-JP" dirty="0"/>
              <a:t>VCK5000 Versal FPGA platform. Table 2 summarizes the detailed specifications of the</a:t>
            </a:r>
          </a:p>
          <a:p>
            <a:r>
              <a:rPr kumimoji="1" lang="en-US" altLang="ja-JP" dirty="0"/>
              <a:t>hardware and software environments. This platform provides a representative environment</a:t>
            </a:r>
          </a:p>
          <a:p>
            <a:r>
              <a:rPr kumimoji="1" lang="en-US" altLang="ja-JP" dirty="0"/>
              <a:t>for profiling hardware resource utilization and measuring power consumption under realistic</a:t>
            </a:r>
          </a:p>
          <a:p>
            <a:r>
              <a:rPr kumimoji="1" lang="en-US" altLang="ja-JP" dirty="0"/>
              <a:t>operating conditions.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15012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69924-B2E5-CE8E-F632-F4A6A1C6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3343D62-404B-0047-77DC-D011EE63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0F9A64-1198-525A-848B-188DC13E1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DCFFAD-CA03-5BFD-049A-67885DE48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696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 comparative analysis was performed to evaluate computational efficiency. Table 3</a:t>
            </a:r>
          </a:p>
          <a:p>
            <a:r>
              <a:rPr kumimoji="1" lang="en-US" altLang="ja-JP" dirty="0"/>
              <a:t>summarizes the total number of linear layer function calls and the cumulative GPU</a:t>
            </a:r>
          </a:p>
          <a:p>
            <a:r>
              <a:rPr kumimoji="1" lang="en-US" altLang="ja-JP" dirty="0"/>
              <a:t>execution time across a scaling range of 100 to 1,000 images. While the SNN operates over</a:t>
            </a:r>
          </a:p>
          <a:p>
            <a:r>
              <a:rPr kumimoji="1" lang="en-US" altLang="ja-JP" dirty="0"/>
              <a:t>multiple timesteps, its event-driven nature and multiplication-free accumulation operations</a:t>
            </a:r>
          </a:p>
          <a:p>
            <a:r>
              <a:rPr kumimoji="1" lang="en-US" altLang="ja-JP" dirty="0"/>
              <a:t>significantly reduce the overall computational overhead, achieving lower execution times</a:t>
            </a:r>
          </a:p>
          <a:p>
            <a:r>
              <a:rPr kumimoji="1" lang="en-US" altLang="ja-JP" dirty="0"/>
              <a:t>than the ANN baseline.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0584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Table 4 summarizes the FPGA resource utilization, including Look-Up Tables, Flip-Flops,</a:t>
            </a:r>
          </a:p>
          <a:p>
            <a:r>
              <a:rPr kumimoji="1" lang="en-US" altLang="ja-JP" dirty="0"/>
              <a:t>and Block RAMs. Notably, the spike-driven nature of the computation aims to minimize or</a:t>
            </a:r>
          </a:p>
          <a:p>
            <a:r>
              <a:rPr kumimoji="1" lang="en-US" altLang="ja-JP" dirty="0"/>
              <a:t>completely eliminate the use of Digital Signal Processing slices. As seen in the table, we</a:t>
            </a:r>
          </a:p>
          <a:p>
            <a:r>
              <a:rPr kumimoji="1" lang="en-US" altLang="ja-JP" dirty="0"/>
              <a:t>successfully achieved zero DSP utilization, effectively shifting the computational burden to</a:t>
            </a:r>
          </a:p>
          <a:p>
            <a:r>
              <a:rPr kumimoji="1" lang="en-US" altLang="ja-JP" dirty="0"/>
              <a:t>efficient logical operations.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46653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Table 5 provides the on-chip power consumption report, broken down by dynamic and static</a:t>
            </a:r>
          </a:p>
          <a:p>
            <a:r>
              <a:rPr kumimoji="1" lang="en-US" altLang="ja-JP" dirty="0"/>
              <a:t>power components. Our implementation exhibits superior energy efficiency. Dynamic power</a:t>
            </a:r>
          </a:p>
          <a:p>
            <a:r>
              <a:rPr kumimoji="1" lang="en-US" altLang="ja-JP" dirty="0"/>
              <a:t>consumption was restricted to just 3.095 Watts, representing only 19% of the total on-chip</a:t>
            </a:r>
          </a:p>
          <a:p>
            <a:r>
              <a:rPr kumimoji="1" lang="en-US" altLang="ja-JP" dirty="0"/>
              <a:t>power.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18498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7B7A-0799-EC2B-7E7E-FBF8D218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2A504C2-6164-FB1C-D175-3332BCA94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2B6C84-8BFD-EC95-F99A-BFB9162AC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1B754E-C875-DA50-19D3-D96FF9D17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122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In conclusion, this work demonstrated the hardware acceleration of a generative SNN on the</a:t>
            </a:r>
          </a:p>
          <a:p>
            <a:r>
              <a:rPr kumimoji="1" lang="en-US" altLang="ja-JP" dirty="0"/>
              <a:t>AMD Versal platform. Our DSP-free approach utilizes logic-centric operations, delivering</a:t>
            </a:r>
          </a:p>
          <a:p>
            <a:r>
              <a:rPr kumimoji="1" lang="en-US" altLang="ja-JP" dirty="0"/>
              <a:t>significant execution speedups and low dynamic power consumption. These results confirm</a:t>
            </a:r>
          </a:p>
          <a:p>
            <a:r>
              <a:rPr kumimoji="1" lang="en-US" altLang="ja-JP" dirty="0"/>
              <a:t>its viability for the real-time cognitive demands of embedded humanoid robotic systems.</a:t>
            </a:r>
          </a:p>
          <a:p>
            <a:r>
              <a:rPr kumimoji="1" lang="en-US" altLang="ja-JP" dirty="0"/>
              <a:t>Future work will focus on physical deployment into these robotic systems.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1E58A-2966-4A0D-B304-EBC9CB0FE09F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23829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C980-22EE-32F6-E2C2-A12E8C09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64B14EB-A441-EAD8-33AE-4474EF6D9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56140C-0CD9-8733-3B17-4A3B9EE0A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A40C57-0025-7F2E-A65E-E4294FB3E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64DB-4E6C-404D-958D-83178DBCD92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64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340E4-BB7E-C63F-C1D3-B1BF66521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1B85D3-B962-7432-7946-BA394B6E1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FB6753-A7FA-7580-D2E4-8A91FE50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564A1C-B5C2-78D5-FA82-D736B21B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412A5A-2F45-8403-1843-4FA3A13A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90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15ED0E-0588-8CC3-F6AE-F766252C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A8CF8D-ED8D-3B5D-1889-EE15EA566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617C95-6F66-AA80-3E25-0D5A4CA6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D7C189-1360-8BEC-9ADB-B797CF39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835BD3-4417-3FF3-29EF-5ACFBBEE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93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5503EA-86E7-4533-E32F-8A717770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EEFAE6-8503-9882-94A8-14A3C9AEC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3CA51E-A9B6-7C1E-B210-A287A3C90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38C2B-DAC8-3876-2C18-71C2850E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0C7F3-4E55-0203-A70C-C19E2A75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315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983FC-BADA-E3CF-9AD8-F3B300D9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7E6988-DA7C-56E1-2993-E78B568A5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843E56-5C10-8F95-8F51-C7A0A0E52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9A7A74-B12B-DFB3-2BBF-07C06DEC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23D8E5-0A06-F138-4700-8EB251D0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B382C5-33D4-6059-D8D9-86161832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42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630BD2-AC61-8179-3753-46FB37AE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1A4FCB-90E9-9BAE-9BA4-29276C02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ED61D9-1E33-6E9F-38BA-9D05EADFB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1835DE-3E31-7212-965F-BB96F013A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89F916E-E9EB-F01F-B4E9-619C4FCB1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306AA3-A220-8FD8-C7E0-C9B64AC7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BAA0694-8B8B-D08C-C301-BF094285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73DBCD5-AB7B-C376-C421-5017ADA3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73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293287-2A42-98F5-5C5D-A2CB1663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E792C1-F493-9A16-49E1-B5F339EB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BBE9D4-5DE2-21D6-F617-450E0782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916DAB-C821-10A8-59A2-BF86CC5E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02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48F8992-4940-947E-3411-D30D730C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3953A3-C75E-4437-05B3-CA2C9647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26FEFA-48C5-5CAA-EBD2-2A41BC1C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96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89C79-9891-8761-59CC-2FD1D0CC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E23AF0-2A6F-9BD1-909A-271AAD3D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47815C-2802-FB87-4F1E-87C26AA13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375562-E044-6AE1-BCB6-0E74AE5F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37C449-B5F0-B35F-1F31-710A9944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A9DF06-E97D-3C1E-B5BA-00055AB9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26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EACCE-D61B-A1D7-5670-CC51BB70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89B33E-0CA1-6A7F-04C5-ECF28B268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8E6616-7657-1E73-FAF7-A99AE4D74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9F65D3-C4E9-AAE8-F8B1-C5235C48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45D320-1C7F-87F3-4CD6-B6B260F7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EC8406-8931-BAFD-EC6A-EE6098F9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64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4EEE77-DDD0-1A2F-CF85-A9F1D3C3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928883-03CA-6BD4-2A6A-F5A75820F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A7547A-8E6B-A347-1054-66C66DF3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256368-307F-E139-AAE4-F4159D02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95D664-601B-78AC-7C4D-1415A694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853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091DAF-1597-B164-DB8B-A963AE48D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5951DD-ACFB-EC42-B3D7-812DAF748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D7B5FA-4067-2866-EBEA-81673510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BA65AD-D4BB-C39E-F6F8-E1B8A060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A471D8-2736-9F73-1840-36D69DB4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28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89DAD6-C8DB-8275-EF42-EE3FEF5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E23EBF-524C-1B43-C297-AE6A59B7B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FA8DD3-04BF-7A62-CEA7-40E25DF32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9A4A6-097F-45B1-88C1-9E68039E799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946858-AD24-7353-C2D7-516F95838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B540CD-3E82-8B2C-8304-714045B98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46FB3-C105-4F9C-A43A-DB734CA5CF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xilinx.github.io/Alveo-Versal-Platforms/alveoversalplatforms/build/html/docs/user-guide/ug_vck5000_gen4x8_qdma.html" TargetMode="External"/><Relationship Id="rId2" Type="http://schemas.openxmlformats.org/officeDocument/2006/relationships/hyperlink" Target="https://japan.xilinx.com/content/dam/xilinx/publications/product-briefs/amd-xilinx-vck5000-product-brief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2F308C3F-0CA0-5E4F-AFD6-02BDBDCC0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472" y="269398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ja-JP" altLang="ja-JP" sz="4900" b="1" dirty="0"/>
              <a:t>FPGA-based Neuromorphic Acceleration of Spiking Neural Networks</a:t>
            </a:r>
            <a:r>
              <a:rPr lang="en-US" altLang="ja-JP" sz="4900" b="1" dirty="0"/>
              <a:t> for Event-Driven Humanoid Robotics</a:t>
            </a:r>
            <a:br>
              <a:rPr lang="ja-JP" altLang="ja-JP" b="1" dirty="0"/>
            </a:br>
            <a:endParaRPr lang="ja-JP" altLang="en-US" dirty="0"/>
          </a:p>
        </p:txBody>
      </p:sp>
      <p:sp>
        <p:nvSpPr>
          <p:cNvPr id="10" name="サブタイトル 2">
            <a:extLst>
              <a:ext uri="{FF2B5EF4-FFF2-40B4-BE49-F238E27FC236}">
                <a16:creationId xmlns:a16="http://schemas.microsoft.com/office/drawing/2014/main" id="{BD854227-7E46-C611-FE0F-F10304989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576" y="3906446"/>
            <a:ext cx="10346065" cy="1752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ja-JP" dirty="0"/>
              <a:t>Author: </a:t>
            </a:r>
            <a:r>
              <a:rPr lang="ja-JP" altLang="ja-JP" dirty="0"/>
              <a:t>Aruki Komatsuzaki , Atharv Sharma, Yuga Hanyu, Khanh N. Dang, Abderazek Ben Abdallah</a:t>
            </a:r>
            <a:r>
              <a:rPr lang="en-US" altLang="ja-JP" dirty="0"/>
              <a:t> and</a:t>
            </a:r>
            <a:r>
              <a:rPr lang="ja-JP" altLang="ja-JP" dirty="0"/>
              <a:t> Zhishang Wang</a:t>
            </a:r>
            <a:endParaRPr lang="ja-JP" altLang="en-US" dirty="0"/>
          </a:p>
        </p:txBody>
      </p:sp>
      <p:sp>
        <p:nvSpPr>
          <p:cNvPr id="11" name="日付プレースホルダ 3">
            <a:extLst>
              <a:ext uri="{FF2B5EF4-FFF2-40B4-BE49-F238E27FC236}">
                <a16:creationId xmlns:a16="http://schemas.microsoft.com/office/drawing/2014/main" id="{CA738E0A-974E-09E6-38F2-6941B29EB5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2202872" y="6384059"/>
            <a:ext cx="2133600" cy="365125"/>
          </a:xfrm>
        </p:spPr>
        <p:txBody>
          <a:bodyPr/>
          <a:lstStyle/>
          <a:p>
            <a:pPr>
              <a:defRPr/>
            </a:pPr>
            <a:fld id="{FEEA61AA-2D86-4ED4-89AB-DB7CDA676515}" type="datetime4">
              <a:rPr lang="en-US" altLang="ja-JP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B294B5FE-3EB1-9215-6249-8A81FA84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9872" y="6384059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F3890DFF-899E-C163-DE0D-E7201467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98872" y="6384059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40981A-14B1-475A-838E-7F97DDD9A7E3}" type="slidenum">
              <a:rPr lang="ja-JP" altLang="en-US" sz="14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ja-JP" altLang="en-US" sz="14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99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4D64ED62-50E8-6970-6442-88336F2F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22845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11289A1-BFBD-7ED2-BCF6-F89BF1CA1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1554018"/>
            <a:ext cx="8229600" cy="4525963"/>
          </a:xfrm>
        </p:spPr>
        <p:txBody>
          <a:bodyPr/>
          <a:lstStyle/>
          <a:p>
            <a:r>
              <a:rPr kumimoji="1" lang="en-US" altLang="ja-JP" dirty="0"/>
              <a:t>Introduction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Proposed framework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Experimental Setup 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Result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Reference</a:t>
            </a:r>
            <a:endParaRPr kumimoji="1" lang="ja-JP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3D390BCD-6880-DB0A-13CF-F18A1C5B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7" name="フッター プレースホルダー 4">
            <a:extLst>
              <a:ext uri="{FF2B5EF4-FFF2-40B4-BE49-F238E27FC236}">
                <a16:creationId xmlns:a16="http://schemas.microsoft.com/office/drawing/2014/main" id="{356D3155-176A-30A2-AD64-AD64B41A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CF50BF55-3F52-E4C1-F1F8-D522EEDE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9399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F2EAB6-0E6F-B63D-ED60-082519D3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ja-JP" sz="2800" b="1" dirty="0"/>
              <a:t>Introduction: Challenges in GANs</a:t>
            </a:r>
            <a:br>
              <a:rPr lang="ja-JP" altLang="ja-JP" sz="3200" b="1" dirty="0"/>
            </a:br>
            <a:endParaRPr lang="ja-JP" altLang="en-US" sz="3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0714BA-2AA3-51D1-2B7E-C705F615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536" y="1166019"/>
            <a:ext cx="10112043" cy="4525963"/>
          </a:xfrm>
        </p:spPr>
        <p:txBody>
          <a:bodyPr/>
          <a:lstStyle/>
          <a:p>
            <a:r>
              <a:rPr lang="en-US" altLang="ja-JP" sz="2400" dirty="0"/>
              <a:t>Generative Adversarial Networks (GANs) achieve strong performance in content generation, but demand high computational capability.</a:t>
            </a:r>
          </a:p>
          <a:p>
            <a:r>
              <a:rPr lang="en-US" altLang="ja-JP" sz="2400" dirty="0"/>
              <a:t>High computational cost significantly limits deployment on resource-constrained devices, such as embedded humanoid robotic systems.</a:t>
            </a:r>
          </a:p>
          <a:p>
            <a:r>
              <a:rPr lang="en-US" altLang="ja-JP" sz="2400" dirty="0"/>
              <a:t>Robotic systems require real-time, low-latency processing within strict power budgets.</a:t>
            </a:r>
          </a:p>
          <a:p>
            <a:r>
              <a:rPr lang="en-US" altLang="ja-JP" sz="2400" dirty="0"/>
              <a:t>Traditional Artificial Neural Networks (ANNs) are challenging to implement efficiently under these constraints.</a:t>
            </a:r>
            <a:endParaRPr lang="ja-JP" altLang="en-US" sz="24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68C5EB-57E0-E132-DC9B-09BDCAED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594FD8-8F95-4C57-49F8-0D060A91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F79FBF-6AAA-30A7-3BDB-0A800AB5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399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A584E-48AF-AB32-38E0-445ED724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36"/>
            <a:ext cx="8229600" cy="1143000"/>
          </a:xfrm>
        </p:spPr>
        <p:txBody>
          <a:bodyPr/>
          <a:lstStyle/>
          <a:p>
            <a:r>
              <a:rPr lang="en-US" altLang="ja-JP" sz="2800" b="1" dirty="0"/>
              <a:t>Introduction: Neuromorphic Computing</a:t>
            </a:r>
            <a:br>
              <a:rPr lang="ja-JP" altLang="ja-JP" sz="2800" b="1" dirty="0"/>
            </a:br>
            <a:endParaRPr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4C45CE-8789-37BD-BB48-10439221A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28" y="1166018"/>
            <a:ext cx="10256240" cy="4927278"/>
          </a:xfrm>
        </p:spPr>
        <p:txBody>
          <a:bodyPr/>
          <a:lstStyle/>
          <a:p>
            <a:r>
              <a:rPr lang="en-US" altLang="ja-JP" sz="2400" dirty="0"/>
              <a:t>Neuromorphic computing offers a highly promising alternative for low-power intelligence.</a:t>
            </a:r>
          </a:p>
          <a:p>
            <a:r>
              <a:rPr lang="en-US" altLang="ja-JP" sz="2400" dirty="0"/>
              <a:t>Spiking Neural Networks (SNNs) provide simpler computation by using action potentials (spikes) as the primary elements for processing.</a:t>
            </a:r>
          </a:p>
          <a:p>
            <a:r>
              <a:rPr lang="en-US" altLang="ja-JP" sz="2400" dirty="0"/>
              <a:t>Event-driven and multiplication-free computation significantly reduces computational cost.</a:t>
            </a:r>
          </a:p>
          <a:p>
            <a:r>
              <a:rPr lang="en-US" altLang="ja-JP" sz="2400" dirty="0"/>
              <a:t>Mapping SNN operations onto programmable logic requires a dedicated architecture that exploits spike sparsity and memory efficiency.</a:t>
            </a:r>
            <a:endParaRPr lang="ja-JP" altLang="en-US" sz="24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603EC7-51B3-E124-086C-E1A2C4B2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05539A-28A1-10EC-231A-9D9F60FA2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6D2199-1680-111E-FBC0-3FB6262B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8947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FAD6-E26D-3820-FB13-E08FC135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64ABA2D6-5B8F-D469-6D7B-1D5CEAA3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22845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6D06A98-D624-85CF-9F8F-5FA0695C4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1554018"/>
            <a:ext cx="8229600" cy="45259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r>
              <a:rPr lang="en-US" altLang="ja-JP" dirty="0"/>
              <a:t>Proposed framework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Experimental Setup 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Result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Reference</a:t>
            </a:r>
            <a:endParaRPr kumimoji="1" lang="ja-JP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C28E5AB4-4588-F9EC-B510-26552EBF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7" name="フッター プレースホルダー 4">
            <a:extLst>
              <a:ext uri="{FF2B5EF4-FFF2-40B4-BE49-F238E27FC236}">
                <a16:creationId xmlns:a16="http://schemas.microsoft.com/office/drawing/2014/main" id="{A142CFF6-42DD-5238-7D03-0269770B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7C893AC8-FA51-2541-A2B7-FF79E444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3095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414B9B-CA6D-29B7-A525-8490B103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05"/>
            <a:ext cx="8229600" cy="1143000"/>
          </a:xfrm>
        </p:spPr>
        <p:txBody>
          <a:bodyPr/>
          <a:lstStyle/>
          <a:p>
            <a:r>
              <a:rPr lang="en-US" altLang="ja-JP" sz="2800" b="1" dirty="0"/>
              <a:t>Proposed Framework: Software Implementation</a:t>
            </a:r>
            <a:br>
              <a:rPr lang="ja-JP" altLang="ja-JP" sz="2800" b="1" dirty="0"/>
            </a:br>
            <a:endParaRPr lang="ja-JP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28C9F89-8730-B338-694C-7CFE4CA98F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7528" y="1166019"/>
                <a:ext cx="10256240" cy="4525963"/>
              </a:xfrm>
            </p:spPr>
            <p:txBody>
              <a:bodyPr/>
              <a:lstStyle/>
              <a:p>
                <a:r>
                  <a:rPr lang="en-US" altLang="ja-JP" sz="1600" dirty="0"/>
                  <a:t>An ANN-based GAN is trained and subsequently converted into its SNN counterpart.</a:t>
                </a:r>
              </a:p>
              <a:p>
                <a:r>
                  <a:rPr lang="en-US" altLang="ja-JP" sz="1600" dirty="0"/>
                  <a:t>The discrete empirical objective function of the GAN for a mini-batch of size m is</a:t>
                </a:r>
              </a:p>
              <a:p>
                <a:pPr marL="0" indent="0">
                  <a:buNone/>
                </a:pPr>
                <a:r>
                  <a:rPr lang="en-US" altLang="ja-JP" sz="1600" dirty="0"/>
                  <a:t>      defined as a minimax game: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altLang="ja-JP" sz="24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lim>
                      </m:limLow>
                      <m:r>
                        <a:rPr lang="ja-JP" altLang="en-US" sz="2400">
                          <a:latin typeface="Cambria Math" panose="02040503050406030204" pitchFamily="18" charset="0"/>
                        </a:rPr>
                        <m:t> </m:t>
                      </m:r>
                      <m:limLow>
                        <m:limLowPr>
                          <m:ctrlPr>
                            <a:rPr lang="en-US" altLang="ja-JP" sz="24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lim>
                      </m:limLow>
                      <m:r>
                        <a:rPr lang="ja-JP" altLang="en-US" sz="240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ja-JP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ja-JP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altLang="ja-JP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ja-JP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ja-JP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ja-JP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ja-JP" alt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en-US" altLang="ja-JP" sz="240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ja-JP" alt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ja-JP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ja-JP" altLang="en-US" sz="24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ja-JP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ja-JP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ja-JP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  <m:sub>
                                              <m:r>
                                                <a:rPr lang="ja-JP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sz="1600" dirty="0"/>
              </a:p>
              <a:p>
                <a:r>
                  <a:rPr lang="en-US" altLang="ja-JP" sz="1600" dirty="0"/>
                  <a:t>ANN-to-SNN Conversion: Accomplished by mapping the </a:t>
                </a:r>
                <a:r>
                  <a:rPr lang="en-US" altLang="ja-JP" sz="1600" dirty="0" err="1"/>
                  <a:t>ReLU</a:t>
                </a:r>
                <a:r>
                  <a:rPr lang="en-US" altLang="ja-JP" sz="1600" dirty="0"/>
                  <a:t> activation functions of the ANN to the firing rates of Leaky Integrate-and-Fire (LIF) neurons.</a:t>
                </a:r>
              </a:p>
              <a:p>
                <a:r>
                  <a:rPr lang="en-US" altLang="ja-JP" sz="1600" dirty="0"/>
                  <a:t>Exact synaptic weights, neuron biases, </a:t>
                </a:r>
              </a:p>
              <a:p>
                <a:pPr marL="0" indent="0">
                  <a:buNone/>
                </a:pPr>
                <a:r>
                  <a:rPr lang="en-US" altLang="ja-JP" sz="1600" dirty="0"/>
                  <a:t>    and input spike trains are extracted to </a:t>
                </a:r>
              </a:p>
              <a:p>
                <a:pPr marL="0" indent="0">
                  <a:buNone/>
                </a:pPr>
                <a:r>
                  <a:rPr lang="en-US" altLang="ja-JP" sz="1600" dirty="0"/>
                  <a:t>    serve as the foundational data for </a:t>
                </a:r>
              </a:p>
              <a:p>
                <a:pPr marL="0" indent="0">
                  <a:buNone/>
                </a:pPr>
                <a:r>
                  <a:rPr lang="en-US" altLang="ja-JP" sz="1600"/>
                  <a:t>    hardware </a:t>
                </a:r>
                <a:r>
                  <a:rPr lang="en-US" altLang="ja-JP" sz="1600" dirty="0"/>
                  <a:t>mapping.</a:t>
                </a:r>
                <a:br>
                  <a:rPr lang="ja-JP" altLang="ja-JP" sz="1800" dirty="0"/>
                </a:br>
                <a:endParaRPr lang="ja-JP" altLang="en-US" sz="18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28C9F89-8730-B338-694C-7CFE4CA98F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528" y="1166019"/>
                <a:ext cx="10256240" cy="4525963"/>
              </a:xfrm>
              <a:blipFill>
                <a:blip r:embed="rId3"/>
                <a:stretch>
                  <a:fillRect l="-238" t="-9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BC11F6-2329-EF8B-077E-E2CD198F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1437FF-DD3E-93F7-FF9D-093175D6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C2B778-D466-B565-ECB3-E1A21C82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6</a:t>
            </a:fld>
            <a:endParaRPr lang="ja-JP" altLang="en-US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8EF819AA-D78F-4465-BEAF-5EB4819C341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888" y="3629011"/>
            <a:ext cx="4959350" cy="25946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F45171-82E8-4FE7-83E1-999F178BAF52}"/>
              </a:ext>
            </a:extLst>
          </p:cNvPr>
          <p:cNvSpPr txBox="1"/>
          <p:nvPr/>
        </p:nvSpPr>
        <p:spPr>
          <a:xfrm>
            <a:off x="6338888" y="6223621"/>
            <a:ext cx="507047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Figure.  </a:t>
            </a:r>
            <a:r>
              <a:rPr lang="en-US" altLang="ja-JP" sz="1050" dirty="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flow of the implementation framework for GAN model.</a:t>
            </a:r>
            <a:endParaRPr lang="ja-JP" altLang="ja-JP" sz="1050" dirty="0">
              <a:solidFill>
                <a:srgbClr val="000000"/>
              </a:solidFill>
              <a:latin typeface="Palatino Linotype" panose="020405020505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6191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756A29-8A05-FCAB-2565-41862B19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05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ja-JP" sz="2800" b="1" dirty="0"/>
              <a:t>Proposed Framework: Hardware</a:t>
            </a:r>
            <a:br>
              <a:rPr lang="ja-JP" altLang="ja-JP" sz="2800" b="1" dirty="0"/>
            </a:br>
            <a:endParaRPr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90B20D-92E6-6306-12AF-386C1969C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652" y="1166019"/>
            <a:ext cx="10422347" cy="4525963"/>
          </a:xfrm>
        </p:spPr>
        <p:txBody>
          <a:bodyPr/>
          <a:lstStyle/>
          <a:p>
            <a:r>
              <a:rPr lang="en-US" altLang="ja-JP" sz="2000" dirty="0"/>
              <a:t>Computing Core: Integrates a synapse crossbar for weighted accumulations and an LIF neuron array for spike generation.</a:t>
            </a:r>
          </a:p>
          <a:p>
            <a:r>
              <a:rPr lang="en-US" altLang="ja-JP" sz="2000" dirty="0" err="1"/>
              <a:t>OpenRAM</a:t>
            </a:r>
            <a:r>
              <a:rPr lang="en-US" altLang="ja-JP" sz="2000" dirty="0"/>
              <a:t>-based SRAM macros (1024×8) are utilized to store the synaptic weights and biases.</a:t>
            </a:r>
          </a:p>
          <a:p>
            <a:r>
              <a:rPr lang="en-US" altLang="ja-JP" sz="2000" dirty="0"/>
              <a:t>Hardware operates in a timestep-driven manner, processing input spikes sequentially.</a:t>
            </a:r>
          </a:p>
          <a:p>
            <a:r>
              <a:rPr lang="en-US" altLang="ja-JP" sz="2000" dirty="0"/>
              <a:t>Neuron states are updated only upon the arrival of a spike.</a:t>
            </a:r>
          </a:p>
          <a:p>
            <a:r>
              <a:rPr lang="en-US" altLang="ja-JP" sz="2000" dirty="0"/>
              <a:t>Architecture effectively exploits spike sparsity to minimize unnecessary memory accesses and computational overhead.</a:t>
            </a:r>
            <a:endParaRPr lang="ja-JP" altLang="en-US" sz="18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159D9C-83AA-0E6B-4E55-954620DD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46F287-9D66-06BA-7E0F-E475E400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F513FB-8BD1-A20B-AE1E-6EE7B3B4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7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C6F8303-FB76-4023-82EB-E8DAE82CD6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710"/>
          <a:stretch/>
        </p:blipFill>
        <p:spPr>
          <a:xfrm>
            <a:off x="1950127" y="3948423"/>
            <a:ext cx="5954620" cy="194421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D4A0A09-8BA9-4436-A6F3-4D0A5382F98E}"/>
              </a:ext>
            </a:extLst>
          </p:cNvPr>
          <p:cNvSpPr txBox="1"/>
          <p:nvPr/>
        </p:nvSpPr>
        <p:spPr>
          <a:xfrm>
            <a:off x="1769654" y="5892639"/>
            <a:ext cx="6840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100" dirty="0">
                <a:solidFill>
                  <a:srgbClr val="000000"/>
                </a:solidFill>
                <a:ea typeface="Palatino Linotype" panose="0204050205050503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100" dirty="0">
                <a:solidFill>
                  <a:srgbClr val="000000"/>
                </a:solidFill>
                <a:ea typeface="Palatino Linotype" panose="02040502050505030304" pitchFamily="18" charset="0"/>
                <a:cs typeface="Times New Roman" panose="02020603050405020304" pitchFamily="18" charset="0"/>
              </a:rPr>
              <a:t>(a) Structure of GAN Spiking </a:t>
            </a:r>
            <a:r>
              <a:rPr lang="en-US" altLang="ja-JP" sz="1050" dirty="0">
                <a:solidFill>
                  <a:srgbClr val="000000"/>
                </a:solidFill>
                <a:ea typeface="Palatino Linotype" panose="02040502050505030304" pitchFamily="18" charset="0"/>
                <a:cs typeface="Times New Roman" panose="02020603050405020304" pitchFamily="18" charset="0"/>
              </a:rPr>
              <a:t>Neural</a:t>
            </a:r>
            <a:r>
              <a:rPr lang="en-US" altLang="ja-JP" sz="1100" dirty="0">
                <a:solidFill>
                  <a:srgbClr val="000000"/>
                </a:solidFill>
                <a:ea typeface="Palatino Linotype" panose="02040502050505030304" pitchFamily="18" charset="0"/>
                <a:cs typeface="Times New Roman" panose="02020603050405020304" pitchFamily="18" charset="0"/>
              </a:rPr>
              <a:t> Network.       (b) Computing core; consisting of synapse crossbar and neuron layer.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37067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95A4-169A-D7BC-AF7D-A63E0E55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D14E7CE5-0ADF-AD2D-370B-857C5AB1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22845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A0E6174-3722-5E92-DCD3-69814B37F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1554018"/>
            <a:ext cx="8229600" cy="45259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Proposed framework</a:t>
            </a:r>
          </a:p>
          <a:p>
            <a:r>
              <a:rPr kumimoji="1" lang="en-US" altLang="ja-JP" dirty="0"/>
              <a:t>Experimental Setup 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Result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Reference</a:t>
            </a:r>
            <a:endParaRPr kumimoji="1" lang="ja-JP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200750D9-A59A-3808-0D35-20807DB0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7" name="フッター プレースホルダー 4">
            <a:extLst>
              <a:ext uri="{FF2B5EF4-FFF2-40B4-BE49-F238E27FC236}">
                <a16:creationId xmlns:a16="http://schemas.microsoft.com/office/drawing/2014/main" id="{62B3F0ED-4683-4A0A-204A-85C2BEB6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61483840-EEBD-57C7-E4EE-0FE8E523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4068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A80DB-7AFA-9662-D06C-C07FD48A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49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ja-JP" sz="2800" b="1" dirty="0"/>
              <a:t> Experimental Setup (Model Architecture)</a:t>
            </a:r>
            <a:br>
              <a:rPr lang="ja-JP" altLang="ja-JP" sz="2800" b="1" dirty="0"/>
            </a:br>
            <a:endParaRPr lang="ja-JP" altLang="en-US" sz="2800" dirty="0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AD7EC783-C8DD-6615-9D0C-A567C23EDF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57873" y="2852936"/>
          <a:ext cx="8775172" cy="3240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48752">
                  <a:extLst>
                    <a:ext uri="{9D8B030D-6E8A-4147-A177-3AD203B41FA5}">
                      <a16:colId xmlns:a16="http://schemas.microsoft.com/office/drawing/2014/main" val="2135607173"/>
                    </a:ext>
                  </a:extLst>
                </a:gridCol>
                <a:gridCol w="4826420">
                  <a:extLst>
                    <a:ext uri="{9D8B030D-6E8A-4147-A177-3AD203B41FA5}">
                      <a16:colId xmlns:a16="http://schemas.microsoft.com/office/drawing/2014/main" val="182667638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</a:rPr>
                        <a:t>Parameter</a:t>
                      </a:r>
                      <a:endParaRPr lang="ja-JP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</a:rPr>
                        <a:t>Value</a:t>
                      </a:r>
                      <a:endParaRPr lang="ja-JP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45213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Training Data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MNIST Handwritten Digits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59451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Training Numbers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600 Images per Batch × 20 Epochs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0619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Input Layer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100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47462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Layer 1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1,024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11879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Layer 2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1,024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25279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Layer 3 (Output)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784 Neurons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05944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Software Model Parameter Format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Signed FP32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54134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RTL Model Parameter Format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Signed INT8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996013"/>
                  </a:ext>
                </a:extLst>
              </a:tr>
            </a:tbl>
          </a:graphicData>
        </a:graphic>
      </p:graphicFrame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49AD48-AF05-36D0-4739-6E906459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1A3598-2A78-0FA9-7419-9D91B184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3025F2-53EC-F03C-EF8D-6F4B09F2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F3D20A-D764-A7D5-F585-DD5B1E3B02FB}"/>
              </a:ext>
            </a:extLst>
          </p:cNvPr>
          <p:cNvSpPr txBox="1"/>
          <p:nvPr/>
        </p:nvSpPr>
        <p:spPr>
          <a:xfrm>
            <a:off x="1657873" y="1183249"/>
            <a:ext cx="8775172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ja-JP" sz="1400" dirty="0">
                <a:solidFill>
                  <a:srgbClr val="000000"/>
                </a:solidFill>
              </a:rPr>
              <a:t>To evaluate the designed SNN-based GAN generator </a:t>
            </a:r>
            <a:r>
              <a:rPr lang="en-US" altLang="ja-JP" sz="1600" dirty="0">
                <a:solidFill>
                  <a:srgbClr val="000000"/>
                </a:solidFill>
              </a:rPr>
              <a:t>architecture</a:t>
            </a:r>
            <a:r>
              <a:rPr lang="en-US" altLang="ja-JP" sz="1400" dirty="0">
                <a:solidFill>
                  <a:srgbClr val="000000"/>
                </a:solidFill>
              </a:rPr>
              <a:t>, the software and hardware environments were configured with specific parameters. Table 1 details the datasets, network topology, and data formats used during both the software training and hardware execution phases.</a:t>
            </a:r>
          </a:p>
          <a:p>
            <a:pPr>
              <a:spcAft>
                <a:spcPts val="900"/>
              </a:spcAft>
            </a:pPr>
            <a:endParaRPr lang="en-US" altLang="ja-JP" sz="1400" dirty="0">
              <a:solidFill>
                <a:srgbClr val="000000"/>
              </a:solidFill>
            </a:endParaRPr>
          </a:p>
          <a:p>
            <a:pPr>
              <a:spcAft>
                <a:spcPts val="900"/>
              </a:spcAft>
            </a:pPr>
            <a:r>
              <a:rPr lang="ja-JP" altLang="ja-JP" sz="1600" dirty="0">
                <a:solidFill>
                  <a:srgbClr val="000000"/>
                </a:solidFill>
                <a:latin typeface="Arial" panose="020B0604020202020204" pitchFamily="34" charset="0"/>
              </a:rPr>
              <a:t>Table 1. Model architecture and parameters</a:t>
            </a:r>
          </a:p>
        </p:txBody>
      </p:sp>
    </p:spTree>
    <p:extLst>
      <p:ext uri="{BB962C8B-B14F-4D97-AF65-F5344CB8AC3E}">
        <p14:creationId xmlns:p14="http://schemas.microsoft.com/office/powerpoint/2010/main" val="2639472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7459E-6F39-CFB5-8B19-EA1632BE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18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ja-JP" sz="2800" b="1" dirty="0"/>
              <a:t> Experimental Setup (Environment)</a:t>
            </a:r>
            <a:br>
              <a:rPr lang="ja-JP" altLang="ja-JP" sz="2800" b="1" dirty="0"/>
            </a:br>
            <a:endParaRPr lang="ja-JP" altLang="en-US" sz="2800" dirty="0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073BEDF6-C802-83A9-EDD5-3E6DC81496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0" y="2841792"/>
          <a:ext cx="8797714" cy="3349944"/>
        </p:xfrm>
        <a:graphic>
          <a:graphicData uri="http://schemas.openxmlformats.org/drawingml/2006/table">
            <a:tbl>
              <a:tblPr/>
              <a:tblGrid>
                <a:gridCol w="3079196">
                  <a:extLst>
                    <a:ext uri="{9D8B030D-6E8A-4147-A177-3AD203B41FA5}">
                      <a16:colId xmlns:a16="http://schemas.microsoft.com/office/drawing/2014/main" val="58067505"/>
                    </a:ext>
                  </a:extLst>
                </a:gridCol>
                <a:gridCol w="5718518">
                  <a:extLst>
                    <a:ext uri="{9D8B030D-6E8A-4147-A177-3AD203B41FA5}">
                      <a16:colId xmlns:a16="http://schemas.microsoft.com/office/drawing/2014/main" val="883600908"/>
                    </a:ext>
                  </a:extLst>
                </a:gridCol>
              </a:tblGrid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461957"/>
                  </a:ext>
                </a:extLst>
              </a:tr>
              <a:tr h="229135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</a:rPr>
                        <a:t>Software (Host PC)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52907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OS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Windows 11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10610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Framework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PyTorch (Python)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384361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CPU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Intel Core i9-14900KF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129939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RAM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128GB (32GB × 4)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585836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GPU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NVIDIA GeForce RTX 4060 8GB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27270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Storage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4TB SSD (NVMe Gen4)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350716"/>
                  </a:ext>
                </a:extLst>
              </a:tr>
              <a:tr h="229135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 dirty="0">
                          <a:solidFill>
                            <a:srgbClr val="000000"/>
                          </a:solidFill>
                          <a:effectLst/>
                        </a:rPr>
                        <a:t>Hardware (FPGA)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595113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Platform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AMD VCK5000 Versal Development Card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437425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Architecture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Versal 7nm ACAP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703301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LUTs / FFs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~ 899,840 / ~ 1,799,680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62136"/>
                  </a:ext>
                </a:extLst>
              </a:tr>
              <a:tr h="2291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DSP Engines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1,968</a:t>
                      </a:r>
                    </a:p>
                  </a:txBody>
                  <a:tcPr marL="89770" marR="89770" marT="37404" marB="374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210437"/>
                  </a:ext>
                </a:extLst>
              </a:tr>
            </a:tbl>
          </a:graphicData>
        </a:graphic>
      </p:graphicFrame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540BC8-87CF-1F5B-133B-5888E72A3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B44387-D5FF-AC35-346A-6BB8CDC03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4779CE-426F-AA97-47BB-F284A5D7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9EFAC0-299A-15EF-AF3B-27BE225A9DF1}"/>
              </a:ext>
            </a:extLst>
          </p:cNvPr>
          <p:cNvSpPr txBox="1"/>
          <p:nvPr/>
        </p:nvSpPr>
        <p:spPr>
          <a:xfrm>
            <a:off x="1494434" y="2373880"/>
            <a:ext cx="6049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ja-JP" altLang="ja-JP" dirty="0">
                <a:solidFill>
                  <a:srgbClr val="000000"/>
                </a:solidFill>
                <a:latin typeface="Arial" panose="020B0604020202020204" pitchFamily="34" charset="0"/>
              </a:rPr>
              <a:t>Table 2. Hardware and software environment setup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CB9C9B-17BC-4D28-ACE3-D43B706D23B2}"/>
              </a:ext>
            </a:extLst>
          </p:cNvPr>
          <p:cNvSpPr txBox="1"/>
          <p:nvPr/>
        </p:nvSpPr>
        <p:spPr>
          <a:xfrm>
            <a:off x="1703512" y="1149418"/>
            <a:ext cx="86182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ja-JP" sz="1600" dirty="0">
                <a:solidFill>
                  <a:srgbClr val="000000"/>
                </a:solidFill>
                <a:latin typeface="Arial" panose="020B0604020202020204" pitchFamily="34" charset="0"/>
              </a:rPr>
              <a:t>For hardware-level evaluation, the system was synthesized and deployed on the AMD VCK5000 Versal</a:t>
            </a:r>
            <a:r>
              <a:rPr lang="ja-JP" altLang="en-US" sz="1600" dirty="0">
                <a:solidFill>
                  <a:srgbClr val="000000"/>
                </a:solidFill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latin typeface="Arial" panose="020B0604020202020204" pitchFamily="34" charset="0"/>
              </a:rPr>
              <a:t>FPGA platform. This platform provides a representative environment for profiling hardware resource utilization and measuring power consumption. Table 2 summarizes the detailed specifications of the hardware and software environments.</a:t>
            </a:r>
            <a:endParaRPr lang="ja-JP" altLang="ja-JP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625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C5C3-E711-DC04-FD59-376C776E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DACBA95-73A0-F360-B7E8-BCBCB09E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22845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B6E4EB1B-6053-B9E5-E308-55EBD4B5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1554018"/>
            <a:ext cx="8229600" cy="45259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Proposed framework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Experimental Setup </a:t>
            </a:r>
          </a:p>
          <a:p>
            <a:r>
              <a:rPr lang="en-US" altLang="ja-JP" dirty="0"/>
              <a:t>Result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Reference</a:t>
            </a:r>
            <a:endParaRPr kumimoji="1" lang="ja-JP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555AF39A-CAA1-9AF7-3BDF-1DFC1CE3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7" name="フッター プレースホルダー 4">
            <a:extLst>
              <a:ext uri="{FF2B5EF4-FFF2-40B4-BE49-F238E27FC236}">
                <a16:creationId xmlns:a16="http://schemas.microsoft.com/office/drawing/2014/main" id="{6E0D066B-3D43-E43C-E2D3-53ECF8DB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56FC6609-980D-2E8B-D20E-C24CE5AB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5312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FF029-8F8B-11E1-FB41-8164D85C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427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ja-JP" sz="2800" b="1" dirty="0"/>
              <a:t> Computation Comparison</a:t>
            </a:r>
            <a:br>
              <a:rPr lang="ja-JP" altLang="ja-JP" sz="2800" b="1" dirty="0"/>
            </a:br>
            <a:endParaRPr lang="ja-JP" altLang="en-US" sz="2800" dirty="0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C27FE2F2-AEAB-4753-2C17-FC6591C851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10543" y="2853304"/>
          <a:ext cx="8229600" cy="334994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55544659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7675143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18709724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02430864"/>
                    </a:ext>
                  </a:extLst>
                </a:gridCol>
              </a:tblGrid>
              <a:tr h="254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Images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Generator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Linear Function Calls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GPU Time (ms)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056099"/>
                  </a:ext>
                </a:extLst>
              </a:tr>
              <a:tr h="25434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72.94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19111"/>
                  </a:ext>
                </a:extLst>
              </a:tr>
              <a:tr h="25434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10,500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18.90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659958"/>
                  </a:ext>
                </a:extLst>
              </a:tr>
              <a:tr h="25434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74.71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73388"/>
                  </a:ext>
                </a:extLst>
              </a:tr>
              <a:tr h="25434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21,000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39.61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901900"/>
                  </a:ext>
                </a:extLst>
              </a:tr>
              <a:tr h="25434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1,200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69.24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91602"/>
                  </a:ext>
                </a:extLst>
              </a:tr>
              <a:tr h="25434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42,000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22.71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25013"/>
                  </a:ext>
                </a:extLst>
              </a:tr>
              <a:tr h="25434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1,800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69.55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118765"/>
                  </a:ext>
                </a:extLst>
              </a:tr>
              <a:tr h="25434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63,000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27.70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871063"/>
                  </a:ext>
                </a:extLst>
              </a:tr>
              <a:tr h="25434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800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2,400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69.24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703026"/>
                  </a:ext>
                </a:extLst>
              </a:tr>
              <a:tr h="25434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>
                          <a:solidFill>
                            <a:srgbClr val="000000"/>
                          </a:solidFill>
                          <a:effectLst/>
                        </a:rPr>
                        <a:t>84,000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33.50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112920"/>
                  </a:ext>
                </a:extLst>
              </a:tr>
              <a:tr h="25434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ANN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73.60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39478"/>
                  </a:ext>
                </a:extLst>
              </a:tr>
              <a:tr h="25434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SNN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105,000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dirty="0">
                          <a:solidFill>
                            <a:srgbClr val="000000"/>
                          </a:solidFill>
                          <a:effectLst/>
                        </a:rPr>
                        <a:t>39.552</a:t>
                      </a:r>
                    </a:p>
                  </a:txBody>
                  <a:tcPr marL="89770" marR="89770" marT="37404" marB="3740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5338"/>
                  </a:ext>
                </a:extLst>
              </a:tr>
            </a:tbl>
          </a:graphicData>
        </a:graphic>
      </p:graphicFrame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6F17B-24D9-973E-617A-CDC0CEA4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F07B7C-89EC-9434-2741-7B523104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8ACBC6-F970-7D92-40A9-7282D241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638C61-1BA8-16EE-51E9-26213FA9951D}"/>
              </a:ext>
            </a:extLst>
          </p:cNvPr>
          <p:cNvSpPr txBox="1"/>
          <p:nvPr/>
        </p:nvSpPr>
        <p:spPr>
          <a:xfrm>
            <a:off x="2227547" y="1260427"/>
            <a:ext cx="7795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ja-JP" dirty="0">
                <a:solidFill>
                  <a:srgbClr val="000000"/>
                </a:solidFill>
              </a:rPr>
              <a:t>A comparative analysis evaluated computational efficiency. Table 3 summarizes the total number of linear layer function calls and the cumulative GPU execution time.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F8D261-C3DA-CFE3-07F5-BDE543D33624}"/>
              </a:ext>
            </a:extLst>
          </p:cNvPr>
          <p:cNvSpPr txBox="1"/>
          <p:nvPr/>
        </p:nvSpPr>
        <p:spPr>
          <a:xfrm>
            <a:off x="1866164" y="2377036"/>
            <a:ext cx="7795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>
                <a:solidFill>
                  <a:srgbClr val="000000"/>
                </a:solidFill>
                <a:latin typeface="Arial" panose="020B0604020202020204" pitchFamily="34" charset="0"/>
              </a:rPr>
              <a:t>Table 3. Computational comparison between ANN and SNN generator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333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9A310-0B39-755B-6357-4FD57D72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46747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FPGA Resource Utilization</a:t>
            </a:r>
            <a:endParaRPr kumimoji="1" lang="ja-JP" altLang="en-US" sz="28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BF894A-4ED5-87A3-2B58-E9263F2E9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456" y="949114"/>
            <a:ext cx="8229600" cy="120453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Table 4 summarizes the FPGA resource utilization, including Look-Up Tables (LUTs), Flip-Flops(FFs), and Block RAMs (BRAMs). Notably, the spike-driven nature of the computation aims to minimize or completely eliminate the use of Digital Signal Processing (DSP) slices, shifting the computational burden to event-driven logical operations.</a:t>
            </a:r>
          </a:p>
          <a:p>
            <a:pPr marL="0" indent="0">
              <a:buNone/>
            </a:pPr>
            <a:endParaRPr lang="en-US" altLang="ja-JP" sz="16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2527A-FFAF-C2B1-A15F-260B8D3A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4B23C2-2C57-51BD-D5CC-1AEE2F75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3C825D-630E-1913-A56E-E7EC413D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13</a:t>
            </a:fld>
            <a:endParaRPr lang="ja-JP" altLang="en-US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29EAAC60-F0BA-90F0-3AC0-E3F354E2D82E}"/>
              </a:ext>
            </a:extLst>
          </p:cNvPr>
          <p:cNvGraphicFramePr>
            <a:graphicFrameLocks noGrp="1"/>
          </p:cNvGraphicFramePr>
          <p:nvPr/>
        </p:nvGraphicFramePr>
        <p:xfrm>
          <a:off x="1684038" y="2610406"/>
          <a:ext cx="8660436" cy="348289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65109">
                  <a:extLst>
                    <a:ext uri="{9D8B030D-6E8A-4147-A177-3AD203B41FA5}">
                      <a16:colId xmlns:a16="http://schemas.microsoft.com/office/drawing/2014/main" val="2676748494"/>
                    </a:ext>
                  </a:extLst>
                </a:gridCol>
                <a:gridCol w="2165109">
                  <a:extLst>
                    <a:ext uri="{9D8B030D-6E8A-4147-A177-3AD203B41FA5}">
                      <a16:colId xmlns:a16="http://schemas.microsoft.com/office/drawing/2014/main" val="506701974"/>
                    </a:ext>
                  </a:extLst>
                </a:gridCol>
                <a:gridCol w="2165109">
                  <a:extLst>
                    <a:ext uri="{9D8B030D-6E8A-4147-A177-3AD203B41FA5}">
                      <a16:colId xmlns:a16="http://schemas.microsoft.com/office/drawing/2014/main" val="4103914848"/>
                    </a:ext>
                  </a:extLst>
                </a:gridCol>
                <a:gridCol w="2165109">
                  <a:extLst>
                    <a:ext uri="{9D8B030D-6E8A-4147-A177-3AD203B41FA5}">
                      <a16:colId xmlns:a16="http://schemas.microsoft.com/office/drawing/2014/main" val="1157497001"/>
                    </a:ext>
                  </a:extLst>
                </a:gridCol>
              </a:tblGrid>
              <a:tr h="58048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Resource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Used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Available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Utilization (%)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190464"/>
                  </a:ext>
                </a:extLst>
              </a:tr>
              <a:tr h="58048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LUT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307,977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899,840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34.22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005092"/>
                  </a:ext>
                </a:extLst>
              </a:tr>
              <a:tr h="58048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LUTRAM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10,528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449,920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2.34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120736"/>
                  </a:ext>
                </a:extLst>
              </a:tr>
              <a:tr h="58048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81,093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1,799,680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4.40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339419"/>
                  </a:ext>
                </a:extLst>
              </a:tr>
              <a:tr h="58048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BRAM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580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967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59.98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488477"/>
                  </a:ext>
                </a:extLst>
              </a:tr>
              <a:tr h="58048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DSP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1,968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810675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FD644D-ABEB-7421-9545-49353EA8230C}"/>
              </a:ext>
            </a:extLst>
          </p:cNvPr>
          <p:cNvSpPr txBox="1"/>
          <p:nvPr/>
        </p:nvSpPr>
        <p:spPr>
          <a:xfrm>
            <a:off x="1575754" y="2153653"/>
            <a:ext cx="5662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Table 4. FPGA resource utilization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999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4F5EA-AF25-B7AF-C72E-320292A7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75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FPGA On-Chip Power Breakdown</a:t>
            </a:r>
            <a:endParaRPr lang="ja-JP" altLang="en-US" sz="28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ED0971-CDCA-86C4-4A8E-F43E6153E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967529"/>
            <a:ext cx="8672430" cy="1397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1800" dirty="0"/>
              <a:t>Table 5 provides the on-chip power consumption report, broken down by dynamic and static power components. The implementation exhibits superior energy efficiency, with dynamic power consumption representing only 19% of the total on-chip power.</a:t>
            </a:r>
            <a:endParaRPr lang="ja-JP" altLang="en-US" sz="18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90621C-D9D5-E7BF-C11D-3A0742A0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1A0973-C6D4-48CD-50ED-621A9C90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03D760-7168-B35F-F36C-44110DDA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75AAC027-DD84-2FBA-5B6A-2311EE9DC617}"/>
              </a:ext>
            </a:extLst>
          </p:cNvPr>
          <p:cNvSpPr txBox="1">
            <a:spLocks/>
          </p:cNvSpPr>
          <p:nvPr/>
        </p:nvSpPr>
        <p:spPr bwMode="auto">
          <a:xfrm>
            <a:off x="1524000" y="2365468"/>
            <a:ext cx="822960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000" dirty="0"/>
              <a:t>Table 5. FPGA on-chip power breakdown</a:t>
            </a:r>
            <a:endParaRPr lang="ja-JP" altLang="en-US" sz="2000" dirty="0"/>
          </a:p>
        </p:txBody>
      </p:sp>
      <p:graphicFrame>
        <p:nvGraphicFramePr>
          <p:cNvPr id="8" name="表 8">
            <a:extLst>
              <a:ext uri="{FF2B5EF4-FFF2-40B4-BE49-F238E27FC236}">
                <a16:creationId xmlns:a16="http://schemas.microsoft.com/office/drawing/2014/main" id="{41E27AB3-622D-40FA-99E7-BA072494EC67}"/>
              </a:ext>
            </a:extLst>
          </p:cNvPr>
          <p:cNvGraphicFramePr>
            <a:graphicFrameLocks noGrp="1"/>
          </p:cNvGraphicFramePr>
          <p:nvPr/>
        </p:nvGraphicFramePr>
        <p:xfrm>
          <a:off x="1552736" y="2726922"/>
          <a:ext cx="8872294" cy="348682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63384">
                  <a:extLst>
                    <a:ext uri="{9D8B030D-6E8A-4147-A177-3AD203B41FA5}">
                      <a16:colId xmlns:a16="http://schemas.microsoft.com/office/drawing/2014/main" val="2850420698"/>
                    </a:ext>
                  </a:extLst>
                </a:gridCol>
                <a:gridCol w="1572764">
                  <a:extLst>
                    <a:ext uri="{9D8B030D-6E8A-4147-A177-3AD203B41FA5}">
                      <a16:colId xmlns:a16="http://schemas.microsoft.com/office/drawing/2014/main" val="1235774847"/>
                    </a:ext>
                  </a:extLst>
                </a:gridCol>
                <a:gridCol w="2218073">
                  <a:extLst>
                    <a:ext uri="{9D8B030D-6E8A-4147-A177-3AD203B41FA5}">
                      <a16:colId xmlns:a16="http://schemas.microsoft.com/office/drawing/2014/main" val="3543469121"/>
                    </a:ext>
                  </a:extLst>
                </a:gridCol>
                <a:gridCol w="2218073">
                  <a:extLst>
                    <a:ext uri="{9D8B030D-6E8A-4147-A177-3AD203B41FA5}">
                      <a16:colId xmlns:a16="http://schemas.microsoft.com/office/drawing/2014/main" val="2310147381"/>
                    </a:ext>
                  </a:extLst>
                </a:gridCol>
              </a:tblGrid>
              <a:tr h="40086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Category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Component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Power (W)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Share (%)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818593"/>
                  </a:ext>
                </a:extLst>
              </a:tr>
              <a:tr h="400861">
                <a:tc rowSpan="5">
                  <a:txBody>
                    <a:bodyPr/>
                    <a:lstStyle/>
                    <a:p>
                      <a:r>
                        <a:rPr kumimoji="1" lang="en-US" altLang="ja-JP" dirty="0"/>
                        <a:t>Dynamic Power</a:t>
                      </a:r>
                      <a:endParaRPr kumimoji="1" lang="ja-JP" altLang="en-US" dirty="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Clock</a:t>
                      </a:r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0.475</a:t>
                      </a:r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</a:t>
                      </a:r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516642"/>
                  </a:ext>
                </a:extLst>
              </a:tr>
              <a:tr h="40086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Signals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1.007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33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795642"/>
                  </a:ext>
                </a:extLst>
              </a:tr>
              <a:tr h="40086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Logic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1.150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37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090422"/>
                  </a:ext>
                </a:extLst>
              </a:tr>
              <a:tr h="40086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BRAM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0.461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958333"/>
                  </a:ext>
                </a:extLst>
              </a:tr>
              <a:tr h="65306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Dynamic Total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3.095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</a:t>
                      </a:r>
                      <a:endParaRPr kumimoji="1" lang="ja-JP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450373"/>
                  </a:ext>
                </a:extLst>
              </a:tr>
              <a:tr h="428594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Static Power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Device Static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13.496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81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29534"/>
                  </a:ext>
                </a:extLst>
              </a:tr>
              <a:tr h="40086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Total On-Chip Power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16.591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</a:t>
                      </a:r>
                      <a:endParaRPr kumimoji="1" lang="ja-JP" altLang="en-US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50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65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032F-11BD-71A2-D78E-59B31950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C9AEF722-A41D-2FC0-ACB5-E1688F37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22845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9A3F38D-DC73-81CE-8D62-E005E0A4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1554018"/>
            <a:ext cx="8229600" cy="45259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Proposed framework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Experimental Setup 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Result</a:t>
            </a:r>
          </a:p>
          <a:p>
            <a:r>
              <a:rPr kumimoji="1" lang="en-US" altLang="ja-JP" dirty="0"/>
              <a:t>Conclusion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Reference</a:t>
            </a:r>
            <a:endParaRPr kumimoji="1" lang="ja-JP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2288F0D4-B320-CC0E-3DB2-1C8C58DD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7" name="フッター プレースホルダー 4">
            <a:extLst>
              <a:ext uri="{FF2B5EF4-FFF2-40B4-BE49-F238E27FC236}">
                <a16:creationId xmlns:a16="http://schemas.microsoft.com/office/drawing/2014/main" id="{A66BB1C6-C5B7-999F-FB0A-2E4416B9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69912992-E739-B727-26B0-37B6C033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23228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441A9-184C-22F8-1207-A9EEF28A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2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Conclusion</a:t>
            </a:r>
            <a:endParaRPr kumimoji="1" lang="ja-JP" altLang="en-US" sz="28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3AB4C-1121-596B-29E9-5E943A3CB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584994"/>
            <a:ext cx="10515600" cy="4351338"/>
          </a:xfrm>
        </p:spPr>
        <p:txBody>
          <a:bodyPr/>
          <a:lstStyle/>
          <a:p>
            <a:r>
              <a:rPr lang="en-US" altLang="ja-JP" sz="1800" dirty="0"/>
              <a:t>Successfully demonstrated the hardware acceleration of a large-scale generative SNN (SNN-GAN) on the AMD VCK5000 Versal platform.</a:t>
            </a:r>
          </a:p>
          <a:p>
            <a:r>
              <a:rPr lang="en-US" altLang="ja-JP" sz="1800" dirty="0"/>
              <a:t>Complete elimination of power-hungry DSP blocks via hardware-software co-design.</a:t>
            </a:r>
          </a:p>
          <a:p>
            <a:r>
              <a:rPr lang="en-US" altLang="ja-JP" sz="1800" dirty="0"/>
              <a:t>Energy-efficient logic-centric operations delivered a 1.86–3.86x execution speedup over conventional ANN baselines.</a:t>
            </a:r>
          </a:p>
          <a:p>
            <a:endParaRPr lang="en-US" altLang="ja-JP" sz="1800" dirty="0"/>
          </a:p>
          <a:p>
            <a:r>
              <a:rPr lang="en-US" altLang="ja-JP" sz="1800" dirty="0"/>
              <a:t>Results confirm that neuromorphic architectures provide the low-latency and low-power capabilities essential for embedded humanoid robotic systems.</a:t>
            </a:r>
          </a:p>
          <a:p>
            <a:endParaRPr lang="en-US" altLang="ja-JP" sz="1800" dirty="0"/>
          </a:p>
          <a:p>
            <a:r>
              <a:rPr lang="en-US" altLang="ja-JP" sz="1800" dirty="0"/>
              <a:t>Future work will focus on physical deployment into embedded robotic platforms.</a:t>
            </a:r>
          </a:p>
          <a:p>
            <a:pPr marL="0" indent="0">
              <a:buNone/>
            </a:pPr>
            <a:endParaRPr lang="ja-JP" altLang="en-US" sz="18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33C051-227C-9B2D-56C9-741BF537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6B113C-EBA4-568B-B7A4-C6B2C849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0EB1A2-D6D5-75A1-F315-1D7852E1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1234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5D6C-3DE5-57C5-DD19-3E6AEACB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5CC2D28-D372-7CA4-CFA0-68ECFF28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22845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FDA1E55-2D67-B493-07F5-C6457BF06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1554018"/>
            <a:ext cx="8229600" cy="45259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Proposed framework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Experimental Setup </a:t>
            </a:r>
          </a:p>
          <a:p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Result</a:t>
            </a:r>
          </a:p>
          <a:p>
            <a:r>
              <a:rPr kumimoji="1" lang="en-US" altLang="ja-JP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</a:p>
          <a:p>
            <a:r>
              <a:rPr lang="en-US" altLang="ja-JP" dirty="0"/>
              <a:t>Reference</a:t>
            </a:r>
            <a:endParaRPr kumimoji="1" lang="ja-JP" altLang="en-US" dirty="0"/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A586C08E-64FB-F268-E3CC-8132E1DB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84400" y="6310168"/>
            <a:ext cx="2133600" cy="365125"/>
          </a:xfrm>
        </p:spPr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7" name="フッター プレースホルダー 4">
            <a:extLst>
              <a:ext uri="{FF2B5EF4-FFF2-40B4-BE49-F238E27FC236}">
                <a16:creationId xmlns:a16="http://schemas.microsoft.com/office/drawing/2014/main" id="{016071FA-2528-7AB6-D666-9FFCDB24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1400" y="631016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A5DBC18F-BF8D-5AE3-BE1C-439E6A29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0400" y="6310168"/>
            <a:ext cx="2133600" cy="365125"/>
          </a:xfrm>
        </p:spPr>
        <p:txBody>
          <a:bodyPr/>
          <a:lstStyle/>
          <a:p>
            <a:fld id="{A71F8161-A6B0-4506-BBCB-E71FDBA8D53D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32962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4E23B1-D2BD-850D-454C-4C4B9244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References</a:t>
            </a:r>
            <a:endParaRPr kumimoji="1" lang="ja-JP" altLang="en-US" sz="28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07983C-E45A-0BF2-D656-9F8A26698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011"/>
            <a:ext cx="10515600" cy="4648952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Goodfellow, Ian, et al. "Generative adversarial networks." Communications of the ACM 63.11 (2020): 139-144.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Aggarwal, Alankrita, Mamta Mittal, and Gopi </a:t>
            </a:r>
            <a:r>
              <a:rPr lang="en-US" altLang="ja-JP" sz="1000" u="sng" dirty="0" err="1"/>
              <a:t>Battineni</a:t>
            </a:r>
            <a:r>
              <a:rPr lang="en-US" altLang="ja-JP" sz="1000" u="sng" dirty="0"/>
              <a:t>. "Generative adversarial network: An overview of theory and applications." International Journal of Information Management Data Insights 1.1 (2021): 100004.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Wang, </a:t>
            </a:r>
            <a:r>
              <a:rPr lang="en-US" altLang="ja-JP" sz="1000" u="sng" dirty="0" err="1"/>
              <a:t>Kunfeng</a:t>
            </a:r>
            <a:r>
              <a:rPr lang="en-US" altLang="ja-JP" sz="1000" u="sng" dirty="0"/>
              <a:t>, et al. "Generative adversarial networks: introduction and outlook." IEEE/CAA Journal of </a:t>
            </a:r>
            <a:r>
              <a:rPr lang="en-US" altLang="ja-JP" sz="1000" u="sng" dirty="0" err="1"/>
              <a:t>Automatica</a:t>
            </a:r>
            <a:r>
              <a:rPr lang="en-US" altLang="ja-JP" sz="1000" u="sng" dirty="0"/>
              <a:t> Sinica 4.4 (2017): 588-598.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Tong, </a:t>
            </a:r>
            <a:r>
              <a:rPr lang="en-US" altLang="ja-JP" sz="1000" u="sng" dirty="0" err="1"/>
              <a:t>Yuchuang</a:t>
            </a:r>
            <a:r>
              <a:rPr lang="en-US" altLang="ja-JP" sz="1000" u="sng" dirty="0"/>
              <a:t>, Haotian Liu, and </a:t>
            </a:r>
            <a:r>
              <a:rPr lang="en-US" altLang="ja-JP" sz="1000" u="sng" dirty="0" err="1"/>
              <a:t>Zhengtao</a:t>
            </a:r>
            <a:r>
              <a:rPr lang="en-US" altLang="ja-JP" sz="1000" u="sng" dirty="0"/>
              <a:t> Zhang. "Advancements in humanoid robots: A comprehensive review and future prospects." IEEE/CAA Journal of </a:t>
            </a:r>
            <a:r>
              <a:rPr lang="en-US" altLang="ja-JP" sz="1000" u="sng" dirty="0" err="1"/>
              <a:t>Automatica</a:t>
            </a:r>
            <a:r>
              <a:rPr lang="en-US" altLang="ja-JP" sz="1000" u="sng" dirty="0"/>
              <a:t> Sinica 11.2 (2024): 301-328.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Liu, Dingbang, Hao Yu, and Yang Chai. "Low‐power computing with neuromorphic engineering." Advanced Intelligent Systems 3.2 (2021): 2000150.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Merolla, Paul A., et al. "A million spiking-neuron integrated circuit with a scalable communication network and interface." Science 345.6197 (2014): 668-673.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Bouvier, Maxence, et al. "Spiking neural networks hardware implementations and challenges: A survey." ACM Journal on Emerging Technologies in Computing Systems (JETC) 15.2 (2019): 1-35.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Mittal, Sparsh. "A survey of FPGA-based accelerators for convolutional neural networks." Neural computing and applications 32.4 (2020): 1109-1139.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Rathi, Nitin, et al. "Exploring neuromorphic computing based on spiking neural networks: Algorithms to hardware." ACM Computing Surveys 55.12 (2023): 1-49.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Diehl, Peter U., et al. "Fast-classifying, high-accuracy spiking deep networks through weight and threshold balancing." 2015 International joint conference on neural networks (IJCNN). </a:t>
            </a:r>
            <a:r>
              <a:rPr lang="en-US" altLang="ja-JP" sz="1000" u="sng" dirty="0" err="1"/>
              <a:t>ieee</a:t>
            </a:r>
            <a:r>
              <a:rPr lang="en-US" altLang="ja-JP" sz="1000" u="sng" dirty="0"/>
              <a:t>, 2015.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 err="1"/>
              <a:t>Guthaus</a:t>
            </a:r>
            <a:r>
              <a:rPr lang="en-US" altLang="ja-JP" sz="1000" u="sng" dirty="0"/>
              <a:t>, Matthew R., et al. "</a:t>
            </a:r>
            <a:r>
              <a:rPr lang="en-US" altLang="ja-JP" sz="1000" u="sng" dirty="0" err="1"/>
              <a:t>OpenRAM</a:t>
            </a:r>
            <a:r>
              <a:rPr lang="en-US" altLang="ja-JP" sz="1000" u="sng" dirty="0"/>
              <a:t>: An open-source memory compiler." Proceedings of the 35th International Conference on Computer-Aided Design. 2016.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Advanced Micro Devices, Inc. (AMD). AMD VCK5000 Versal Development Card Product Brief. Available online: </a:t>
            </a:r>
            <a:r>
              <a:rPr lang="en-US" altLang="ja-JP" sz="1000" u="sng" dirty="0">
                <a:hlinkClick r:id="rId2"/>
              </a:rPr>
              <a:t>https://japan.xilinx.com/content/dam/xilinx/publications/product-briefs/amd-xilinx-vck5000-product-brief.pdf</a:t>
            </a:r>
            <a:r>
              <a:rPr lang="en-US" altLang="ja-JP" sz="1000" dirty="0"/>
              <a:t>.</a:t>
            </a:r>
            <a:endParaRPr lang="ja-JP" altLang="ja-JP" sz="1000" dirty="0"/>
          </a:p>
          <a:p>
            <a:pPr marL="514350" lvl="0" indent="-514350">
              <a:buFont typeface="+mj-lt"/>
              <a:buAutoNum type="arabicPeriod"/>
            </a:pPr>
            <a:r>
              <a:rPr lang="en-US" altLang="ja-JP" sz="1000" u="sng" dirty="0"/>
              <a:t>Advanced Micro Devices, Inc. (AMD). VCK5000 Gen4x8 Vitis Platform User Guide. Available online: </a:t>
            </a:r>
            <a:r>
              <a:rPr lang="en-US" altLang="ja-JP" sz="1000" u="sng" dirty="0">
                <a:hlinkClick r:id="rId3"/>
              </a:rPr>
              <a:t>https://xilinx.github.io/Alveo-Versal-Platforms/alveoversalplatforms/build/html/docs/user-guide/ug_vck5000_gen4x8_qdma.html</a:t>
            </a:r>
            <a:r>
              <a:rPr lang="en-US" altLang="ja-JP" sz="1000" dirty="0"/>
              <a:t>.</a:t>
            </a:r>
            <a:endParaRPr lang="ja-JP" altLang="ja-JP" sz="1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12942E-D528-0F62-0864-2410EE95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3634D5-3EA1-7C09-D6A8-76F6DF7E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286BE5-AA8A-8499-136E-795399CF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3815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7CBF78-C337-40F0-AAC1-3F9B84026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632" y="2910644"/>
            <a:ext cx="7643192" cy="1036712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4000" dirty="0"/>
              <a:t>Thank you for your attention !</a:t>
            </a:r>
            <a:endParaRPr lang="ja-JP" altLang="en-US" sz="4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F07275-9DEE-4795-9A02-38F3C224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1DB8E-34ED-4E6B-8989-094B43BCE8E6}" type="datetime4">
              <a:rPr lang="en-US" altLang="ja-JP" smtClean="0"/>
              <a:pPr>
                <a:defRPr/>
              </a:pPr>
              <a:t>July 29, 2026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564998-7E3A-497C-9862-2A9FCBEFD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The University of Aizu</a:t>
            </a: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FCBDB2-9706-498F-B653-976EFB4F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F8161-A6B0-4506-BBCB-E71FDBA8D53D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713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2228</Words>
  <Application>Microsoft Office PowerPoint</Application>
  <PresentationFormat>ワイド画面</PresentationFormat>
  <Paragraphs>380</Paragraphs>
  <Slides>19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6" baseType="lpstr">
      <vt:lpstr>游ゴシック</vt:lpstr>
      <vt:lpstr>游ゴシック Light</vt:lpstr>
      <vt:lpstr>Arial</vt:lpstr>
      <vt:lpstr>Cambria Math</vt:lpstr>
      <vt:lpstr>Palatino Linotype</vt:lpstr>
      <vt:lpstr>Times New Roman</vt:lpstr>
      <vt:lpstr>Office テーマ</vt:lpstr>
      <vt:lpstr>FPGA-based Neuromorphic Acceleration of Spiking Neural Networks for Event-Driven Humanoid Robotics </vt:lpstr>
      <vt:lpstr>Contents</vt:lpstr>
      <vt:lpstr>Introduction: Challenges in GANs </vt:lpstr>
      <vt:lpstr>Introduction: Neuromorphic Computing </vt:lpstr>
      <vt:lpstr>Contents</vt:lpstr>
      <vt:lpstr>Proposed Framework: Software Implementation </vt:lpstr>
      <vt:lpstr>Proposed Framework: Hardware </vt:lpstr>
      <vt:lpstr>Contents</vt:lpstr>
      <vt:lpstr> Experimental Setup (Model Architecture) </vt:lpstr>
      <vt:lpstr> Experimental Setup (Environment) </vt:lpstr>
      <vt:lpstr>Contents</vt:lpstr>
      <vt:lpstr> Computation Comparison </vt:lpstr>
      <vt:lpstr>FPGA Resource Utilization</vt:lpstr>
      <vt:lpstr>FPGA On-Chip Power Breakdown</vt:lpstr>
      <vt:lpstr>Contents</vt:lpstr>
      <vt:lpstr>Conclusion</vt:lpstr>
      <vt:lpstr>Contents</vt:lpstr>
      <vt:lpstr>References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1310244</dc:creator>
  <cp:lastModifiedBy>s 1310244</cp:lastModifiedBy>
  <cp:revision>8</cp:revision>
  <dcterms:created xsi:type="dcterms:W3CDTF">2026-07-27T07:17:45Z</dcterms:created>
  <dcterms:modified xsi:type="dcterms:W3CDTF">2026-07-29T04:35:06Z</dcterms:modified>
</cp:coreProperties>
</file>